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555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3484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6784848"/>
            <a:ext cx="6327648" cy="6492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6784848"/>
            <a:ext cx="6327648" cy="64922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99248" y="6922008"/>
            <a:ext cx="58430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1097280" y="6922008"/>
            <a:ext cx="584301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832104" y="3456432"/>
            <a:ext cx="129844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Horizon: A Case Study in Software Construction for a Web-Based Streaming Platform</a:t>
            </a:r>
            <a:endParaRPr lang="en-US" sz="64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F70961-ACFE-AFC2-017E-2BB54CC506C1}"/>
              </a:ext>
            </a:extLst>
          </p:cNvPr>
          <p:cNvSpPr txBox="1"/>
          <p:nvPr/>
        </p:nvSpPr>
        <p:spPr>
          <a:xfrm>
            <a:off x="1280452" y="6693961"/>
            <a:ext cx="5476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+mj-lt"/>
              </a:rPr>
              <a:t>Abeeha</a:t>
            </a:r>
            <a:r>
              <a:rPr lang="en-US" sz="2400" dirty="0">
                <a:latin typeface="+mj-lt"/>
              </a:rPr>
              <a:t> Raza/094/C</a:t>
            </a:r>
          </a:p>
          <a:p>
            <a:pPr algn="ctr"/>
            <a:r>
              <a:rPr lang="en-US" sz="2400" dirty="0">
                <a:latin typeface="+mj-lt"/>
              </a:rPr>
              <a:t>Alina Faisal/095/C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26D9AE-34D8-67E8-62BB-A34BA1B948B7}"/>
              </a:ext>
            </a:extLst>
          </p:cNvPr>
          <p:cNvSpPr txBox="1"/>
          <p:nvPr/>
        </p:nvSpPr>
        <p:spPr>
          <a:xfrm>
            <a:off x="7091464" y="3714750"/>
            <a:ext cx="223736" cy="468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B8AB9-DE0A-0720-F549-629FFA1C3E79}"/>
              </a:ext>
            </a:extLst>
          </p:cNvPr>
          <p:cNvSpPr txBox="1"/>
          <p:nvPr/>
        </p:nvSpPr>
        <p:spPr>
          <a:xfrm>
            <a:off x="6858000" y="371475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937CED-3CFE-507A-86F1-F151B6079CE0}"/>
              </a:ext>
            </a:extLst>
          </p:cNvPr>
          <p:cNvSpPr txBox="1"/>
          <p:nvPr/>
        </p:nvSpPr>
        <p:spPr>
          <a:xfrm>
            <a:off x="8286166" y="6669447"/>
            <a:ext cx="48151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Salman Rao/091/C</a:t>
            </a:r>
          </a:p>
          <a:p>
            <a:pPr algn="ctr"/>
            <a:r>
              <a:rPr lang="en-US" sz="2400" dirty="0">
                <a:latin typeface="+mj-lt"/>
              </a:rPr>
              <a:t>Haziq Zaman/104/C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6080760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9. Exception Handling Concepts Applied</a:t>
            </a:r>
            <a:endParaRPr lang="en-US" sz="2320" dirty="0"/>
          </a:p>
        </p:txBody>
      </p:sp>
      <p:sp>
        <p:nvSpPr>
          <p:cNvPr id="5" name="Text 1"/>
          <p:cNvSpPr/>
          <p:nvPr/>
        </p:nvSpPr>
        <p:spPr>
          <a:xfrm>
            <a:off x="7571232" y="480974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6. Refactoring and Legacy Code Removal</a:t>
            </a:r>
            <a:endParaRPr lang="en-US" sz="2320" dirty="0"/>
          </a:p>
        </p:txBody>
      </p:sp>
      <p:sp>
        <p:nvSpPr>
          <p:cNvPr id="6" name="Text 2"/>
          <p:cNvSpPr/>
          <p:nvPr/>
        </p:nvSpPr>
        <p:spPr>
          <a:xfrm>
            <a:off x="1078992" y="480974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5. Software Deployment Management</a:t>
            </a:r>
            <a:endParaRPr lang="en-US" sz="2320" dirty="0"/>
          </a:p>
        </p:txBody>
      </p:sp>
      <p:sp>
        <p:nvSpPr>
          <p:cNvPr id="7" name="Text 3"/>
          <p:cNvSpPr/>
          <p:nvPr/>
        </p:nvSpPr>
        <p:spPr>
          <a:xfrm>
            <a:off x="832104" y="138988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CONTENTS</a:t>
            </a:r>
            <a:endParaRPr lang="en-US" sz="6410" dirty="0"/>
          </a:p>
        </p:txBody>
      </p:sp>
      <p:sp>
        <p:nvSpPr>
          <p:cNvPr id="8" name="Text 4"/>
          <p:cNvSpPr/>
          <p:nvPr/>
        </p:nvSpPr>
        <p:spPr>
          <a:xfrm>
            <a:off x="1078992" y="2807208"/>
            <a:ext cx="5989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1. Process Model Implemented and Its Justification</a:t>
            </a:r>
            <a:endParaRPr lang="en-US" sz="2320" dirty="0"/>
          </a:p>
        </p:txBody>
      </p:sp>
      <p:sp>
        <p:nvSpPr>
          <p:cNvPr id="9" name="Text 5"/>
          <p:cNvSpPr/>
          <p:nvPr/>
        </p:nvSpPr>
        <p:spPr>
          <a:xfrm>
            <a:off x="7571232" y="2807208"/>
            <a:ext cx="5989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2. Software Process Improvement (SPI) During the Semester Project</a:t>
            </a:r>
            <a:endParaRPr lang="en-US" sz="2320" dirty="0"/>
          </a:p>
        </p:txBody>
      </p:sp>
      <p:sp>
        <p:nvSpPr>
          <p:cNvPr id="10" name="Text 6"/>
          <p:cNvSpPr/>
          <p:nvPr/>
        </p:nvSpPr>
        <p:spPr>
          <a:xfrm>
            <a:off x="7571232" y="544982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8. Automated Testing</a:t>
            </a:r>
            <a:endParaRPr lang="en-US" sz="2320" dirty="0"/>
          </a:p>
        </p:txBody>
      </p:sp>
      <p:sp>
        <p:nvSpPr>
          <p:cNvPr id="11" name="Text 7"/>
          <p:cNvSpPr/>
          <p:nvPr/>
        </p:nvSpPr>
        <p:spPr>
          <a:xfrm>
            <a:off x="1078992" y="5449824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7. Unit Testing</a:t>
            </a:r>
            <a:endParaRPr lang="en-US" sz="2320" dirty="0"/>
          </a:p>
        </p:txBody>
      </p:sp>
      <p:sp>
        <p:nvSpPr>
          <p:cNvPr id="12" name="Text 8"/>
          <p:cNvSpPr/>
          <p:nvPr/>
        </p:nvSpPr>
        <p:spPr>
          <a:xfrm>
            <a:off x="1078992" y="3813048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3. Version Control Implementation</a:t>
            </a:r>
            <a:endParaRPr lang="en-US" sz="2320" dirty="0"/>
          </a:p>
        </p:txBody>
      </p:sp>
      <p:sp>
        <p:nvSpPr>
          <p:cNvPr id="13" name="Text 9"/>
          <p:cNvSpPr/>
          <p:nvPr/>
        </p:nvSpPr>
        <p:spPr>
          <a:xfrm>
            <a:off x="7571232" y="6080760"/>
            <a:ext cx="59893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10. Peer Reviews and Inspections</a:t>
            </a:r>
            <a:endParaRPr lang="en-US" sz="2320" dirty="0"/>
          </a:p>
        </p:txBody>
      </p:sp>
      <p:sp>
        <p:nvSpPr>
          <p:cNvPr id="14" name="Text 10"/>
          <p:cNvSpPr/>
          <p:nvPr/>
        </p:nvSpPr>
        <p:spPr>
          <a:xfrm>
            <a:off x="7571232" y="3813048"/>
            <a:ext cx="5989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4. Lehman’s Laws Justification in Our Project</a:t>
            </a:r>
            <a:endParaRPr lang="en-US" sz="2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2084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416552"/>
            <a:ext cx="129844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Process Model Implemented and Its Justification</a:t>
            </a:r>
            <a:endParaRPr lang="en-US" sz="6410" dirty="0"/>
          </a:p>
        </p:txBody>
      </p:sp>
      <p:sp>
        <p:nvSpPr>
          <p:cNvPr id="6" name="Text 1"/>
          <p:cNvSpPr/>
          <p:nvPr/>
        </p:nvSpPr>
        <p:spPr>
          <a:xfrm>
            <a:off x="832104" y="377647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658368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01</a:t>
            </a:r>
            <a:endParaRPr lang="en-US" sz="13930" dirty="0"/>
          </a:p>
        </p:txBody>
      </p:sp>
      <p:sp>
        <p:nvSpPr>
          <p:cNvPr id="8" name="Text 3"/>
          <p:cNvSpPr/>
          <p:nvPr/>
        </p:nvSpPr>
        <p:spPr>
          <a:xfrm>
            <a:off x="832104" y="701344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  <p:sp>
        <p:nvSpPr>
          <p:cNvPr id="9" name="Text 4"/>
          <p:cNvSpPr/>
          <p:nvPr/>
        </p:nvSpPr>
        <p:spPr>
          <a:xfrm>
            <a:off x="832104" y="313639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39958"/>
            <a:ext cx="14630400" cy="86386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908" y="1665572"/>
            <a:ext cx="2569464" cy="9509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906" y="1650492"/>
            <a:ext cx="2569464" cy="95097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48" y="1650492"/>
            <a:ext cx="2569464" cy="95097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5904" y="1650492"/>
            <a:ext cx="2569464" cy="9509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6699" y="1650492"/>
            <a:ext cx="2569464" cy="95097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348166" y="19065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0" name="Text 1"/>
          <p:cNvSpPr/>
          <p:nvPr/>
        </p:nvSpPr>
        <p:spPr>
          <a:xfrm>
            <a:off x="1078992" y="2665476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Development Model</a:t>
            </a:r>
            <a:endParaRPr lang="en-US" sz="2320" dirty="0"/>
          </a:p>
        </p:txBody>
      </p:sp>
      <p:sp>
        <p:nvSpPr>
          <p:cNvPr id="11" name="Text 2"/>
          <p:cNvSpPr/>
          <p:nvPr/>
        </p:nvSpPr>
        <p:spPr>
          <a:xfrm>
            <a:off x="11597639" y="3595799"/>
            <a:ext cx="210312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Frequent sprint reviews ensured that the application aligned with user expectations and software construction principles.</a:t>
            </a:r>
            <a:endParaRPr lang="en-US" sz="1850" dirty="0"/>
          </a:p>
        </p:txBody>
      </p:sp>
      <p:sp>
        <p:nvSpPr>
          <p:cNvPr id="12" name="Text 3"/>
          <p:cNvSpPr/>
          <p:nvPr/>
        </p:nvSpPr>
        <p:spPr>
          <a:xfrm>
            <a:off x="914400" y="9144"/>
            <a:ext cx="12984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Process Model Implemented and Its Justification</a:t>
            </a:r>
            <a:endParaRPr lang="en-US" sz="4640" dirty="0"/>
          </a:p>
        </p:txBody>
      </p:sp>
      <p:sp>
        <p:nvSpPr>
          <p:cNvPr id="13" name="Text 4"/>
          <p:cNvSpPr/>
          <p:nvPr/>
        </p:nvSpPr>
        <p:spPr>
          <a:xfrm>
            <a:off x="11779076" y="2850642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User Expectation</a:t>
            </a:r>
            <a:endParaRPr lang="en-US" sz="2320" dirty="0"/>
          </a:p>
        </p:txBody>
      </p:sp>
      <p:sp>
        <p:nvSpPr>
          <p:cNvPr id="14" name="Text 5"/>
          <p:cNvSpPr/>
          <p:nvPr/>
        </p:nvSpPr>
        <p:spPr>
          <a:xfrm>
            <a:off x="8932405" y="3175254"/>
            <a:ext cx="210312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This allowed us to respond quickly to changes in UI/UX direction, prioritize component-level testing, and refactor efficiently based on team feedback.</a:t>
            </a:r>
            <a:endParaRPr lang="en-US" sz="1850" dirty="0"/>
          </a:p>
        </p:txBody>
      </p:sp>
      <p:sp>
        <p:nvSpPr>
          <p:cNvPr id="15" name="Text 6"/>
          <p:cNvSpPr/>
          <p:nvPr/>
        </p:nvSpPr>
        <p:spPr>
          <a:xfrm>
            <a:off x="6272784" y="2729484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Component Independence</a:t>
            </a:r>
            <a:endParaRPr lang="en-US" sz="2320" dirty="0"/>
          </a:p>
        </p:txBody>
      </p:sp>
      <p:sp>
        <p:nvSpPr>
          <p:cNvPr id="16" name="Text 7"/>
          <p:cNvSpPr/>
          <p:nvPr/>
        </p:nvSpPr>
        <p:spPr>
          <a:xfrm>
            <a:off x="10031770" y="190195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  <p:sp>
        <p:nvSpPr>
          <p:cNvPr id="17" name="Text 8"/>
          <p:cNvSpPr/>
          <p:nvPr/>
        </p:nvSpPr>
        <p:spPr>
          <a:xfrm>
            <a:off x="3548032" y="2990007"/>
            <a:ext cx="2406798" cy="4696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project was divided into multiple sprints, each focusing on ziterative improvements, modular component development, and feature integration such as search, routing, theming, and responsive design.</a:t>
            </a:r>
            <a:endParaRPr lang="en-US" sz="1850" dirty="0"/>
          </a:p>
        </p:txBody>
      </p:sp>
      <p:sp>
        <p:nvSpPr>
          <p:cNvPr id="18" name="Text 9"/>
          <p:cNvSpPr/>
          <p:nvPr/>
        </p:nvSpPr>
        <p:spPr>
          <a:xfrm>
            <a:off x="1961388" y="19065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9" name="Text 10"/>
          <p:cNvSpPr/>
          <p:nvPr/>
        </p:nvSpPr>
        <p:spPr>
          <a:xfrm>
            <a:off x="3636826" y="2818598"/>
            <a:ext cx="21031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Sprint Focus</a:t>
            </a:r>
            <a:endParaRPr lang="en-US" sz="2320" dirty="0"/>
          </a:p>
        </p:txBody>
      </p:sp>
      <p:sp>
        <p:nvSpPr>
          <p:cNvPr id="20" name="Text 11"/>
          <p:cNvSpPr/>
          <p:nvPr/>
        </p:nvSpPr>
        <p:spPr>
          <a:xfrm>
            <a:off x="12743768" y="185787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320" dirty="0"/>
          </a:p>
        </p:txBody>
      </p:sp>
      <p:sp>
        <p:nvSpPr>
          <p:cNvPr id="21" name="Text 12"/>
          <p:cNvSpPr/>
          <p:nvPr/>
        </p:nvSpPr>
        <p:spPr>
          <a:xfrm>
            <a:off x="967018" y="3577630"/>
            <a:ext cx="210312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For the development of Horizon, we adopted the Agile Software Development Model, specifically leveraging Scrum.</a:t>
            </a:r>
            <a:endParaRPr lang="en-US" sz="1850" dirty="0"/>
          </a:p>
        </p:txBody>
      </p:sp>
      <p:sp>
        <p:nvSpPr>
          <p:cNvPr id="22" name="Text 13"/>
          <p:cNvSpPr/>
          <p:nvPr/>
        </p:nvSpPr>
        <p:spPr>
          <a:xfrm>
            <a:off x="4680925" y="19065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23" name="Text 14"/>
          <p:cNvSpPr/>
          <p:nvPr/>
        </p:nvSpPr>
        <p:spPr>
          <a:xfrm>
            <a:off x="8823638" y="2729484"/>
            <a:ext cx="238979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Responsiveness</a:t>
            </a:r>
            <a:endParaRPr lang="en-US" sz="2320" dirty="0"/>
          </a:p>
        </p:txBody>
      </p:sp>
      <p:sp>
        <p:nvSpPr>
          <p:cNvPr id="24" name="Text 15"/>
          <p:cNvSpPr/>
          <p:nvPr/>
        </p:nvSpPr>
        <p:spPr>
          <a:xfrm>
            <a:off x="6320750" y="3724816"/>
            <a:ext cx="2103120" cy="3776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Agile was selected due to the dynamic nature of front-end development and our use of React, where features are broken into independent, reusable components.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92445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92445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7735824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3127248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649224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02</a:t>
            </a:r>
            <a:endParaRPr lang="en-US" sz="13930" dirty="0"/>
          </a:p>
        </p:txBody>
      </p:sp>
      <p:sp>
        <p:nvSpPr>
          <p:cNvPr id="7" name="Text 2"/>
          <p:cNvSpPr/>
          <p:nvPr/>
        </p:nvSpPr>
        <p:spPr>
          <a:xfrm>
            <a:off x="832104" y="8028432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  <p:sp>
        <p:nvSpPr>
          <p:cNvPr id="8" name="Text 3"/>
          <p:cNvSpPr/>
          <p:nvPr/>
        </p:nvSpPr>
        <p:spPr>
          <a:xfrm>
            <a:off x="832104" y="4416552"/>
            <a:ext cx="129844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Software Process Improvement (SPI) During the Semester Project</a:t>
            </a:r>
            <a:endParaRPr lang="en-US" sz="6410" dirty="0"/>
          </a:p>
        </p:txBody>
      </p:sp>
      <p:sp>
        <p:nvSpPr>
          <p:cNvPr id="9" name="Text 4"/>
          <p:cNvSpPr/>
          <p:nvPr/>
        </p:nvSpPr>
        <p:spPr>
          <a:xfrm>
            <a:off x="832104" y="377647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0" y="1432379"/>
            <a:ext cx="768096" cy="7680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1668780"/>
            <a:ext cx="768096" cy="7680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8741" y="4768947"/>
            <a:ext cx="676656" cy="7680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4527914"/>
            <a:ext cx="768096" cy="7680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312" y="1753883"/>
            <a:ext cx="768096" cy="76809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463299" y="5451428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Decoupling UI from Logic</a:t>
            </a:r>
            <a:endParaRPr lang="en-US" sz="2320" dirty="0"/>
          </a:p>
        </p:txBody>
      </p:sp>
      <p:sp>
        <p:nvSpPr>
          <p:cNvPr id="9" name="Text 1"/>
          <p:cNvSpPr/>
          <p:nvPr/>
        </p:nvSpPr>
        <p:spPr>
          <a:xfrm>
            <a:off x="987552" y="2988323"/>
            <a:ext cx="3831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Yes, Software Process Improvement (SPI) was actively practiced during the project lifecycle.</a:t>
            </a:r>
            <a:endParaRPr lang="en-US" sz="1850" dirty="0"/>
          </a:p>
        </p:txBody>
      </p:sp>
      <p:sp>
        <p:nvSpPr>
          <p:cNvPr id="10" name="Text 2"/>
          <p:cNvSpPr/>
          <p:nvPr/>
        </p:nvSpPr>
        <p:spPr>
          <a:xfrm>
            <a:off x="841248" y="86868"/>
            <a:ext cx="12984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Software Process Improvement (SPI) During the Semester Project</a:t>
            </a:r>
            <a:endParaRPr lang="en-US" sz="4640" dirty="0"/>
          </a:p>
        </p:txBody>
      </p:sp>
      <p:sp>
        <p:nvSpPr>
          <p:cNvPr id="11" name="Text 3"/>
          <p:cNvSpPr/>
          <p:nvPr/>
        </p:nvSpPr>
        <p:spPr>
          <a:xfrm>
            <a:off x="987552" y="5961888"/>
            <a:ext cx="383133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SPI also led us to implement Linting (ESLint), Prettier, and better folder structure (/components, /pages, /utils) to improve readability and maintainability.</a:t>
            </a:r>
            <a:endParaRPr lang="en-US" sz="1850" dirty="0"/>
          </a:p>
        </p:txBody>
      </p:sp>
      <p:sp>
        <p:nvSpPr>
          <p:cNvPr id="12" name="Text 4"/>
          <p:cNvSpPr/>
          <p:nvPr/>
        </p:nvSpPr>
        <p:spPr>
          <a:xfrm>
            <a:off x="960120" y="2380247"/>
            <a:ext cx="3831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Software Process Improvement</a:t>
            </a:r>
            <a:endParaRPr lang="en-US" sz="2320" dirty="0"/>
          </a:p>
        </p:txBody>
      </p:sp>
      <p:sp>
        <p:nvSpPr>
          <p:cNvPr id="13" name="Text 5"/>
          <p:cNvSpPr/>
          <p:nvPr/>
        </p:nvSpPr>
        <p:spPr>
          <a:xfrm>
            <a:off x="1021401" y="5686204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Linting and Structure</a:t>
            </a:r>
            <a:endParaRPr lang="en-US" sz="2320" dirty="0"/>
          </a:p>
        </p:txBody>
      </p:sp>
      <p:sp>
        <p:nvSpPr>
          <p:cNvPr id="14" name="Text 6"/>
          <p:cNvSpPr/>
          <p:nvPr/>
        </p:nvSpPr>
        <p:spPr>
          <a:xfrm>
            <a:off x="5497148" y="5780031"/>
            <a:ext cx="383133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Additionally, React Context and custom hooks like useThemeToggle helped decouple UI from logic, aligning with clean code practices.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9806940" y="2750579"/>
            <a:ext cx="383133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 response, we transitioned from vanilla HTML/CSS/JS to React with Material UI, which provided consistent theming, responsive grids, and scalable component design.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5417820" y="2832755"/>
            <a:ext cx="3831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Early in the development phase, we identified inefficiencies such as inline styling, duplicated logic, and lack of standard theming.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5417820" y="2409725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Identifying Inefficiencies</a:t>
            </a:r>
            <a:endParaRPr lang="en-US" sz="2320" dirty="0"/>
          </a:p>
        </p:txBody>
      </p:sp>
      <p:sp>
        <p:nvSpPr>
          <p:cNvPr id="18" name="Text 10"/>
          <p:cNvSpPr/>
          <p:nvPr/>
        </p:nvSpPr>
        <p:spPr>
          <a:xfrm>
            <a:off x="9806940" y="2457851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Transition to React</a:t>
            </a:r>
            <a:endParaRPr lang="en-US" sz="2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208776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928616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Version Control Implementation</a:t>
            </a:r>
            <a:endParaRPr lang="en-US" sz="6410" dirty="0"/>
          </a:p>
        </p:txBody>
      </p:sp>
      <p:sp>
        <p:nvSpPr>
          <p:cNvPr id="6" name="Text 1"/>
          <p:cNvSpPr/>
          <p:nvPr/>
        </p:nvSpPr>
        <p:spPr>
          <a:xfrm>
            <a:off x="832104" y="3648456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651052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  <p:sp>
        <p:nvSpPr>
          <p:cNvPr id="8" name="Text 3"/>
          <p:cNvSpPr/>
          <p:nvPr/>
        </p:nvSpPr>
        <p:spPr>
          <a:xfrm>
            <a:off x="832104" y="1170432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03</a:t>
            </a:r>
            <a:endParaRPr lang="en-US" sz="13930" dirty="0"/>
          </a:p>
        </p:txBody>
      </p:sp>
      <p:sp>
        <p:nvSpPr>
          <p:cNvPr id="9" name="Text 4"/>
          <p:cNvSpPr/>
          <p:nvPr/>
        </p:nvSpPr>
        <p:spPr>
          <a:xfrm>
            <a:off x="832104" y="4288536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5184648"/>
            <a:ext cx="12481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We adopted the Git Flow model for development, ensuring that all features were developed in isolation and merged through pull requests after thorough peer reviews.</a:t>
            </a:r>
            <a:endParaRPr lang="en-US" sz="1850" dirty="0"/>
          </a:p>
        </p:txBody>
      </p:sp>
      <p:sp>
        <p:nvSpPr>
          <p:cNvPr id="5" name="Text 1"/>
          <p:cNvSpPr/>
          <p:nvPr/>
        </p:nvSpPr>
        <p:spPr>
          <a:xfrm>
            <a:off x="1078992" y="4169664"/>
            <a:ext cx="12481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All code was managed through branches with descriptive names (e.g., feature/search, bugfix/theme-toggle, test/component-testing).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078992" y="6208776"/>
            <a:ext cx="124815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Commits followed conventional standards (e.g., feat:, fix:, refactor:) for clarity and traceability.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078992" y="2395728"/>
            <a:ext cx="124815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We implemented Git as our version control system and managed the project using GitHub, maintaining two separate repositories:</a:t>
            </a:r>
            <a:endParaRPr lang="en-US" sz="185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The first repository holds the original implementation using HTML, CSS, and JavaScript.</a:t>
            </a:r>
            <a:endParaRPr lang="en-US" sz="185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The second repository is the refactored version using React, Vite, React Router, and MUI.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32104" y="125272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Version Control Implementation</a:t>
            </a:r>
            <a:endParaRPr lang="en-US" sz="46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2084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313639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4416552"/>
            <a:ext cx="129844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Lehman’s Laws Justification in Our Project</a:t>
            </a:r>
            <a:endParaRPr lang="en-US" sz="6410" dirty="0"/>
          </a:p>
        </p:txBody>
      </p:sp>
      <p:sp>
        <p:nvSpPr>
          <p:cNvPr id="7" name="Text 2"/>
          <p:cNvSpPr/>
          <p:nvPr/>
        </p:nvSpPr>
        <p:spPr>
          <a:xfrm>
            <a:off x="832104" y="377647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701344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  <p:sp>
        <p:nvSpPr>
          <p:cNvPr id="9" name="Text 4"/>
          <p:cNvSpPr/>
          <p:nvPr/>
        </p:nvSpPr>
        <p:spPr>
          <a:xfrm>
            <a:off x="832104" y="658368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04</a:t>
            </a:r>
            <a:endParaRPr lang="en-US" sz="13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2276856"/>
            <a:ext cx="1248156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Our project aligns with Lehman’s Laws of Software Evolution in multiple ways:</a:t>
            </a:r>
            <a:endParaRPr lang="en-US" sz="185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Law of Continuing Change: The application evolved from a static HTML site into a fully reactive, modern app, adapting to UI requirements and new libraries.</a:t>
            </a:r>
            <a:endParaRPr lang="en-US" sz="185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Law of Increasing Complexity: As features and routing logic grew, complexity increased, prompting us to refactor into hooks, contexts, and modular files.</a:t>
            </a:r>
            <a:endParaRPr lang="en-US" sz="185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Law of Feedback System: Regular sprint retrospectives, peer feedback, and CI checks guided our refinements.</a:t>
            </a:r>
            <a:endParaRPr lang="en-US" sz="1850" dirty="0"/>
          </a:p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Law of Self-Regulation: Based on sprint velocity, we adjusted our goals to ensure realistic and consistent progress.</a:t>
            </a:r>
            <a:endParaRPr lang="en-US" sz="1850" dirty="0"/>
          </a:p>
        </p:txBody>
      </p:sp>
      <p:sp>
        <p:nvSpPr>
          <p:cNvPr id="5" name="Text 1"/>
          <p:cNvSpPr/>
          <p:nvPr/>
        </p:nvSpPr>
        <p:spPr>
          <a:xfrm>
            <a:off x="832104" y="1143000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Lehman’s Laws Justification in Our Project</a:t>
            </a:r>
            <a:endParaRPr lang="en-US" sz="4640" dirty="0"/>
          </a:p>
        </p:txBody>
      </p:sp>
      <p:sp>
        <p:nvSpPr>
          <p:cNvPr id="6" name="Text 2"/>
          <p:cNvSpPr/>
          <p:nvPr/>
        </p:nvSpPr>
        <p:spPr>
          <a:xfrm>
            <a:off x="1078992" y="5943600"/>
            <a:ext cx="12481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Our transition from the original codebase to a scalable SPA with routing, theming, and error boundaries illustrates these laws in practice.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2084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416552"/>
            <a:ext cx="129844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Software Deployment Management</a:t>
            </a:r>
            <a:endParaRPr lang="en-US" sz="6410" dirty="0"/>
          </a:p>
        </p:txBody>
      </p:sp>
      <p:sp>
        <p:nvSpPr>
          <p:cNvPr id="6" name="Text 1"/>
          <p:cNvSpPr/>
          <p:nvPr/>
        </p:nvSpPr>
        <p:spPr>
          <a:xfrm>
            <a:off x="832104" y="658368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05</a:t>
            </a:r>
            <a:endParaRPr lang="en-US" sz="13930" dirty="0"/>
          </a:p>
        </p:txBody>
      </p:sp>
      <p:sp>
        <p:nvSpPr>
          <p:cNvPr id="7" name="Text 2"/>
          <p:cNvSpPr/>
          <p:nvPr/>
        </p:nvSpPr>
        <p:spPr>
          <a:xfrm>
            <a:off x="832104" y="701344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  <p:sp>
        <p:nvSpPr>
          <p:cNvPr id="8" name="Text 3"/>
          <p:cNvSpPr/>
          <p:nvPr/>
        </p:nvSpPr>
        <p:spPr>
          <a:xfrm>
            <a:off x="832104" y="313639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377647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4124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084"/>
            <a:ext cx="14630400" cy="84124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673352"/>
            <a:ext cx="2569464" cy="9509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8832" y="1673352"/>
            <a:ext cx="2569464" cy="95097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1673352"/>
            <a:ext cx="2569464" cy="95097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1673352"/>
            <a:ext cx="2569464" cy="9509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1673352"/>
            <a:ext cx="2569464" cy="95097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675888" y="3474720"/>
            <a:ext cx="210312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production build is created using Vite build, and deployment-ready files are generated in the folder.</a:t>
            </a:r>
            <a:endParaRPr lang="en-US" sz="1850" dirty="0"/>
          </a:p>
        </p:txBody>
      </p:sp>
      <p:sp>
        <p:nvSpPr>
          <p:cNvPr id="10" name="Text 1"/>
          <p:cNvSpPr/>
          <p:nvPr/>
        </p:nvSpPr>
        <p:spPr>
          <a:xfrm>
            <a:off x="6272784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Deployment Plans</a:t>
            </a:r>
            <a:endParaRPr lang="en-US" sz="2320" dirty="0"/>
          </a:p>
        </p:txBody>
      </p:sp>
      <p:sp>
        <p:nvSpPr>
          <p:cNvPr id="11" name="Text 2"/>
          <p:cNvSpPr/>
          <p:nvPr/>
        </p:nvSpPr>
        <p:spPr>
          <a:xfrm>
            <a:off x="7232904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2" name="Text 3"/>
          <p:cNvSpPr/>
          <p:nvPr/>
        </p:nvSpPr>
        <p:spPr>
          <a:xfrm>
            <a:off x="1078992" y="3849624"/>
            <a:ext cx="210312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Though we haven’t deployed the project on a live hosting platform yet, we structured it for easy deployment using Vite.</a:t>
            </a:r>
            <a:endParaRPr lang="en-US" sz="1850" dirty="0"/>
          </a:p>
        </p:txBody>
      </p:sp>
      <p:sp>
        <p:nvSpPr>
          <p:cNvPr id="13" name="Text 4"/>
          <p:cNvSpPr/>
          <p:nvPr/>
        </p:nvSpPr>
        <p:spPr>
          <a:xfrm>
            <a:off x="12426696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320" dirty="0"/>
          </a:p>
        </p:txBody>
      </p:sp>
      <p:sp>
        <p:nvSpPr>
          <p:cNvPr id="14" name="Text 5"/>
          <p:cNvSpPr/>
          <p:nvPr/>
        </p:nvSpPr>
        <p:spPr>
          <a:xfrm>
            <a:off x="11466576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Theming System</a:t>
            </a:r>
            <a:endParaRPr lang="en-US" sz="2320" dirty="0"/>
          </a:p>
        </p:txBody>
      </p:sp>
      <p:sp>
        <p:nvSpPr>
          <p:cNvPr id="15" name="Text 6"/>
          <p:cNvSpPr/>
          <p:nvPr/>
        </p:nvSpPr>
        <p:spPr>
          <a:xfrm>
            <a:off x="9829800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  <p:sp>
        <p:nvSpPr>
          <p:cNvPr id="16" name="Text 7"/>
          <p:cNvSpPr/>
          <p:nvPr/>
        </p:nvSpPr>
        <p:spPr>
          <a:xfrm>
            <a:off x="3675888" y="2971800"/>
            <a:ext cx="210312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Build Process</a:t>
            </a:r>
            <a:endParaRPr lang="en-US" sz="2320" dirty="0"/>
          </a:p>
        </p:txBody>
      </p:sp>
      <p:sp>
        <p:nvSpPr>
          <p:cNvPr id="17" name="Text 8"/>
          <p:cNvSpPr/>
          <p:nvPr/>
        </p:nvSpPr>
        <p:spPr>
          <a:xfrm>
            <a:off x="8869680" y="3849624"/>
            <a:ext cx="210312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application routing is managed via React Router, ensuring clean URLs and fallback pages.</a:t>
            </a:r>
            <a:endParaRPr lang="en-US" sz="1850" dirty="0"/>
          </a:p>
        </p:txBody>
      </p:sp>
      <p:sp>
        <p:nvSpPr>
          <p:cNvPr id="18" name="Text 9"/>
          <p:cNvSpPr/>
          <p:nvPr/>
        </p:nvSpPr>
        <p:spPr>
          <a:xfrm>
            <a:off x="1078992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Project Structure</a:t>
            </a:r>
            <a:endParaRPr lang="en-US" sz="2320" dirty="0"/>
          </a:p>
        </p:txBody>
      </p:sp>
      <p:sp>
        <p:nvSpPr>
          <p:cNvPr id="19" name="Text 10"/>
          <p:cNvSpPr/>
          <p:nvPr/>
        </p:nvSpPr>
        <p:spPr>
          <a:xfrm>
            <a:off x="6272784" y="3849624"/>
            <a:ext cx="210312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We have planned deployment on GitHub Pages or Netlify, which supports continuous deployment via GitHub integration.</a:t>
            </a:r>
            <a:endParaRPr lang="en-US" sz="1850" dirty="0"/>
          </a:p>
        </p:txBody>
      </p:sp>
      <p:sp>
        <p:nvSpPr>
          <p:cNvPr id="20" name="Text 11"/>
          <p:cNvSpPr/>
          <p:nvPr/>
        </p:nvSpPr>
        <p:spPr>
          <a:xfrm>
            <a:off x="4645152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21" name="Text 12"/>
          <p:cNvSpPr/>
          <p:nvPr/>
        </p:nvSpPr>
        <p:spPr>
          <a:xfrm>
            <a:off x="832104" y="64922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Software Deployment Management</a:t>
            </a:r>
            <a:endParaRPr lang="en-US" sz="4640" dirty="0"/>
          </a:p>
        </p:txBody>
      </p:sp>
      <p:sp>
        <p:nvSpPr>
          <p:cNvPr id="22" name="Text 13"/>
          <p:cNvSpPr/>
          <p:nvPr/>
        </p:nvSpPr>
        <p:spPr>
          <a:xfrm>
            <a:off x="8869680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Routing Management</a:t>
            </a:r>
            <a:endParaRPr lang="en-US" sz="2320" dirty="0"/>
          </a:p>
        </p:txBody>
      </p:sp>
      <p:sp>
        <p:nvSpPr>
          <p:cNvPr id="23" name="Text 14"/>
          <p:cNvSpPr/>
          <p:nvPr/>
        </p:nvSpPr>
        <p:spPr>
          <a:xfrm>
            <a:off x="11466576" y="3849624"/>
            <a:ext cx="210312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theming system is centralized using Theme Provider from MUI, ensuring consistent visuals across devices post-deployment.</a:t>
            </a:r>
            <a:endParaRPr lang="en-US" sz="1850" dirty="0"/>
          </a:p>
        </p:txBody>
      </p:sp>
      <p:sp>
        <p:nvSpPr>
          <p:cNvPr id="24" name="Text 15"/>
          <p:cNvSpPr/>
          <p:nvPr/>
        </p:nvSpPr>
        <p:spPr>
          <a:xfrm>
            <a:off x="2048256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2084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658368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06</a:t>
            </a:r>
            <a:endParaRPr lang="en-US" sz="13930" dirty="0"/>
          </a:p>
        </p:txBody>
      </p:sp>
      <p:sp>
        <p:nvSpPr>
          <p:cNvPr id="6" name="Text 1"/>
          <p:cNvSpPr/>
          <p:nvPr/>
        </p:nvSpPr>
        <p:spPr>
          <a:xfrm>
            <a:off x="832104" y="4416552"/>
            <a:ext cx="129844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Refactoring and Legacy Code Removal</a:t>
            </a:r>
            <a:endParaRPr lang="en-US" sz="6410" dirty="0"/>
          </a:p>
        </p:txBody>
      </p:sp>
      <p:sp>
        <p:nvSpPr>
          <p:cNvPr id="7" name="Text 2"/>
          <p:cNvSpPr/>
          <p:nvPr/>
        </p:nvSpPr>
        <p:spPr>
          <a:xfrm>
            <a:off x="832104" y="313639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377647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701344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7474"/>
            <a:ext cx="14630400" cy="85985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605" y="5119998"/>
            <a:ext cx="768096" cy="7680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5720" y="1792224"/>
            <a:ext cx="576072" cy="7680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5047488"/>
            <a:ext cx="768096" cy="7680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6312" y="1792224"/>
            <a:ext cx="768096" cy="7680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4280" y="5119998"/>
            <a:ext cx="768096" cy="76809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296" y="1792224"/>
            <a:ext cx="768096" cy="76809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960120" y="6548547"/>
            <a:ext cx="3831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entire routing system, which was previously reliant on static navigation, was rebuilt using React Router v6.</a:t>
            </a:r>
            <a:endParaRPr lang="en-US" sz="1850" dirty="0"/>
          </a:p>
        </p:txBody>
      </p:sp>
      <p:sp>
        <p:nvSpPr>
          <p:cNvPr id="10" name="Text 1"/>
          <p:cNvSpPr/>
          <p:nvPr/>
        </p:nvSpPr>
        <p:spPr>
          <a:xfrm>
            <a:off x="5404104" y="278892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Reusable Components</a:t>
            </a:r>
            <a:endParaRPr lang="en-US" sz="2320" dirty="0"/>
          </a:p>
        </p:txBody>
      </p:sp>
      <p:sp>
        <p:nvSpPr>
          <p:cNvPr id="11" name="Text 2"/>
          <p:cNvSpPr/>
          <p:nvPr/>
        </p:nvSpPr>
        <p:spPr>
          <a:xfrm>
            <a:off x="960120" y="3300984"/>
            <a:ext cx="3831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 core goal of the project was to refactor legacy HTML/CSS/JS code into component-based React code.</a:t>
            </a:r>
            <a:endParaRPr lang="en-US" sz="1850" dirty="0"/>
          </a:p>
        </p:txBody>
      </p:sp>
      <p:sp>
        <p:nvSpPr>
          <p:cNvPr id="12" name="Text 3"/>
          <p:cNvSpPr/>
          <p:nvPr/>
        </p:nvSpPr>
        <p:spPr>
          <a:xfrm>
            <a:off x="5404104" y="6353556"/>
            <a:ext cx="3831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State management was abstracted using hooks and context instead of global variables.</a:t>
            </a:r>
            <a:endParaRPr lang="en-US" sz="1850" dirty="0"/>
          </a:p>
        </p:txBody>
      </p:sp>
      <p:sp>
        <p:nvSpPr>
          <p:cNvPr id="13" name="Text 4"/>
          <p:cNvSpPr/>
          <p:nvPr/>
        </p:nvSpPr>
        <p:spPr>
          <a:xfrm>
            <a:off x="960120" y="6001752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Routing System</a:t>
            </a:r>
            <a:endParaRPr lang="en-US" sz="2320" dirty="0"/>
          </a:p>
        </p:txBody>
      </p:sp>
      <p:sp>
        <p:nvSpPr>
          <p:cNvPr id="14" name="Text 5"/>
          <p:cNvSpPr/>
          <p:nvPr/>
        </p:nvSpPr>
        <p:spPr>
          <a:xfrm>
            <a:off x="5408676" y="600303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State Management</a:t>
            </a:r>
            <a:endParaRPr lang="en-US" sz="2320" dirty="0"/>
          </a:p>
        </p:txBody>
      </p:sp>
      <p:sp>
        <p:nvSpPr>
          <p:cNvPr id="15" name="Text 6"/>
          <p:cNvSpPr/>
          <p:nvPr/>
        </p:nvSpPr>
        <p:spPr>
          <a:xfrm>
            <a:off x="5404104" y="3300984"/>
            <a:ext cx="38313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Reusable components like , , and replaced repeated HTML blocks.</a:t>
            </a:r>
            <a:endParaRPr lang="en-US" sz="1850" dirty="0"/>
          </a:p>
        </p:txBody>
      </p:sp>
      <p:sp>
        <p:nvSpPr>
          <p:cNvPr id="16" name="Text 7"/>
          <p:cNvSpPr/>
          <p:nvPr/>
        </p:nvSpPr>
        <p:spPr>
          <a:xfrm>
            <a:off x="960120" y="278892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Project Goal</a:t>
            </a:r>
            <a:endParaRPr lang="en-US" sz="2320" dirty="0"/>
          </a:p>
        </p:txBody>
      </p:sp>
      <p:sp>
        <p:nvSpPr>
          <p:cNvPr id="17" name="Text 8"/>
          <p:cNvSpPr/>
          <p:nvPr/>
        </p:nvSpPr>
        <p:spPr>
          <a:xfrm>
            <a:off x="832104" y="64922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Refactoring and Legacy Code Removal</a:t>
            </a:r>
            <a:endParaRPr lang="en-US" sz="4640" dirty="0"/>
          </a:p>
        </p:txBody>
      </p:sp>
      <p:sp>
        <p:nvSpPr>
          <p:cNvPr id="18" name="Text 9"/>
          <p:cNvSpPr/>
          <p:nvPr/>
        </p:nvSpPr>
        <p:spPr>
          <a:xfrm>
            <a:off x="9848088" y="3300984"/>
            <a:ext cx="3831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All inline styling was removed in favor of Material UI styling, promoting consistency and responsiveness.</a:t>
            </a:r>
            <a:endParaRPr lang="en-US" sz="1850" dirty="0"/>
          </a:p>
        </p:txBody>
      </p:sp>
      <p:sp>
        <p:nvSpPr>
          <p:cNvPr id="19" name="Text 10"/>
          <p:cNvSpPr/>
          <p:nvPr/>
        </p:nvSpPr>
        <p:spPr>
          <a:xfrm>
            <a:off x="9857232" y="5978652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Codebase Result</a:t>
            </a:r>
            <a:endParaRPr lang="en-US" sz="2320" dirty="0"/>
          </a:p>
        </p:txBody>
      </p:sp>
      <p:sp>
        <p:nvSpPr>
          <p:cNvPr id="20" name="Text 11"/>
          <p:cNvSpPr/>
          <p:nvPr/>
        </p:nvSpPr>
        <p:spPr>
          <a:xfrm>
            <a:off x="9848088" y="2788920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Styling Improvement</a:t>
            </a:r>
            <a:endParaRPr lang="en-US" sz="2320" dirty="0"/>
          </a:p>
        </p:txBody>
      </p:sp>
      <p:sp>
        <p:nvSpPr>
          <p:cNvPr id="21" name="Text 12"/>
          <p:cNvSpPr/>
          <p:nvPr/>
        </p:nvSpPr>
        <p:spPr>
          <a:xfrm>
            <a:off x="9838944" y="6353556"/>
            <a:ext cx="383133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result is a clean, maintainable codebase following React best practices and modern software architecture.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208776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170432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07</a:t>
            </a:r>
            <a:endParaRPr lang="en-US" sz="13930" dirty="0"/>
          </a:p>
        </p:txBody>
      </p:sp>
      <p:sp>
        <p:nvSpPr>
          <p:cNvPr id="6" name="Text 1"/>
          <p:cNvSpPr/>
          <p:nvPr/>
        </p:nvSpPr>
        <p:spPr>
          <a:xfrm>
            <a:off x="832104" y="4288536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3648456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651052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  <p:sp>
        <p:nvSpPr>
          <p:cNvPr id="9" name="Text 4"/>
          <p:cNvSpPr/>
          <p:nvPr/>
        </p:nvSpPr>
        <p:spPr>
          <a:xfrm>
            <a:off x="832104" y="4928616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Unit Testing</a:t>
            </a:r>
            <a:endParaRPr lang="en-US" sz="64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5953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59536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1901952"/>
            <a:ext cx="457200" cy="4937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3758184"/>
            <a:ext cx="457200" cy="49377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1901952"/>
            <a:ext cx="457200" cy="49377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989320"/>
            <a:ext cx="457200" cy="4937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758184"/>
            <a:ext cx="457200" cy="49377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609344" y="2450592"/>
            <a:ext cx="5550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Unit testing was implemented in the React codebase using Jest and React Testing Library.</a:t>
            </a:r>
            <a:endParaRPr lang="en-US" sz="1850" dirty="0"/>
          </a:p>
        </p:txBody>
      </p:sp>
      <p:sp>
        <p:nvSpPr>
          <p:cNvPr id="10" name="Text 1"/>
          <p:cNvSpPr/>
          <p:nvPr/>
        </p:nvSpPr>
        <p:spPr>
          <a:xfrm>
            <a:off x="8247888" y="4297680"/>
            <a:ext cx="5550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Custom hooks like useLocalStorage were tested using mocks to simulate real-world behavior.</a:t>
            </a:r>
            <a:endParaRPr lang="en-US" sz="1850" dirty="0"/>
          </a:p>
        </p:txBody>
      </p:sp>
      <p:sp>
        <p:nvSpPr>
          <p:cNvPr id="11" name="Text 2"/>
          <p:cNvSpPr/>
          <p:nvPr/>
        </p:nvSpPr>
        <p:spPr>
          <a:xfrm>
            <a:off x="7635240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2" name="Text 3"/>
          <p:cNvSpPr/>
          <p:nvPr/>
        </p:nvSpPr>
        <p:spPr>
          <a:xfrm>
            <a:off x="8247888" y="3794760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Custom Hooks Testing</a:t>
            </a:r>
            <a:endParaRPr lang="en-US" sz="2320" dirty="0"/>
          </a:p>
        </p:txBody>
      </p:sp>
      <p:sp>
        <p:nvSpPr>
          <p:cNvPr id="13" name="Text 4"/>
          <p:cNvSpPr/>
          <p:nvPr/>
        </p:nvSpPr>
        <p:spPr>
          <a:xfrm>
            <a:off x="832104" y="64922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Unit Testing</a:t>
            </a:r>
            <a:endParaRPr lang="en-US" sz="4640" dirty="0"/>
          </a:p>
        </p:txBody>
      </p:sp>
      <p:sp>
        <p:nvSpPr>
          <p:cNvPr id="14" name="Text 5"/>
          <p:cNvSpPr/>
          <p:nvPr/>
        </p:nvSpPr>
        <p:spPr>
          <a:xfrm>
            <a:off x="7635240" y="378561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  <p:sp>
        <p:nvSpPr>
          <p:cNvPr id="15" name="Text 6"/>
          <p:cNvSpPr/>
          <p:nvPr/>
        </p:nvSpPr>
        <p:spPr>
          <a:xfrm>
            <a:off x="8247888" y="2450592"/>
            <a:ext cx="5550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Each key component was tested in isolation to ensure functionality and prevent regressions.</a:t>
            </a:r>
            <a:endParaRPr lang="en-US" sz="1850" dirty="0"/>
          </a:p>
        </p:txBody>
      </p:sp>
      <p:sp>
        <p:nvSpPr>
          <p:cNvPr id="16" name="Text 7"/>
          <p:cNvSpPr/>
          <p:nvPr/>
        </p:nvSpPr>
        <p:spPr>
          <a:xfrm>
            <a:off x="8247888" y="1938528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Key Component Testing</a:t>
            </a:r>
            <a:endParaRPr lang="en-US" sz="2320" dirty="0"/>
          </a:p>
        </p:txBody>
      </p:sp>
      <p:sp>
        <p:nvSpPr>
          <p:cNvPr id="17" name="Text 8"/>
          <p:cNvSpPr/>
          <p:nvPr/>
        </p:nvSpPr>
        <p:spPr>
          <a:xfrm>
            <a:off x="996696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8" name="Text 9"/>
          <p:cNvSpPr/>
          <p:nvPr/>
        </p:nvSpPr>
        <p:spPr>
          <a:xfrm>
            <a:off x="996696" y="601675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320" dirty="0"/>
          </a:p>
        </p:txBody>
      </p:sp>
      <p:sp>
        <p:nvSpPr>
          <p:cNvPr id="19" name="Text 10"/>
          <p:cNvSpPr/>
          <p:nvPr/>
        </p:nvSpPr>
        <p:spPr>
          <a:xfrm>
            <a:off x="1609344" y="1938528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Unit Testing Implementation</a:t>
            </a:r>
            <a:endParaRPr lang="en-US" sz="2320" dirty="0"/>
          </a:p>
        </p:txBody>
      </p:sp>
      <p:sp>
        <p:nvSpPr>
          <p:cNvPr id="20" name="Text 11"/>
          <p:cNvSpPr/>
          <p:nvPr/>
        </p:nvSpPr>
        <p:spPr>
          <a:xfrm>
            <a:off x="1609344" y="6025896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Integration into Workflow</a:t>
            </a:r>
            <a:endParaRPr lang="en-US" sz="2320" dirty="0"/>
          </a:p>
        </p:txBody>
      </p:sp>
      <p:sp>
        <p:nvSpPr>
          <p:cNvPr id="21" name="Text 12"/>
          <p:cNvSpPr/>
          <p:nvPr/>
        </p:nvSpPr>
        <p:spPr>
          <a:xfrm>
            <a:off x="1609344" y="3794760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Prop and State Testing</a:t>
            </a:r>
            <a:endParaRPr lang="en-US" sz="2320" dirty="0"/>
          </a:p>
        </p:txBody>
      </p:sp>
      <p:sp>
        <p:nvSpPr>
          <p:cNvPr id="22" name="Text 13"/>
          <p:cNvSpPr/>
          <p:nvPr/>
        </p:nvSpPr>
        <p:spPr>
          <a:xfrm>
            <a:off x="1609344" y="6537960"/>
            <a:ext cx="55504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These unit tests were integrated into our workflow and run automatically before any pull request is merged.</a:t>
            </a:r>
            <a:endParaRPr lang="en-US" sz="1850" dirty="0"/>
          </a:p>
        </p:txBody>
      </p:sp>
      <p:sp>
        <p:nvSpPr>
          <p:cNvPr id="23" name="Text 14"/>
          <p:cNvSpPr/>
          <p:nvPr/>
        </p:nvSpPr>
        <p:spPr>
          <a:xfrm>
            <a:off x="996696" y="378561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24" name="Text 15"/>
          <p:cNvSpPr/>
          <p:nvPr/>
        </p:nvSpPr>
        <p:spPr>
          <a:xfrm>
            <a:off x="1609344" y="4297680"/>
            <a:ext cx="55504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For instance, was tested for correct prop rendering, and was tested for dynamic state changes.</a:t>
            </a:r>
            <a:endParaRPr lang="en-US" sz="1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208776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4288536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6" name="Text 1"/>
          <p:cNvSpPr/>
          <p:nvPr/>
        </p:nvSpPr>
        <p:spPr>
          <a:xfrm>
            <a:off x="832104" y="651052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  <p:sp>
        <p:nvSpPr>
          <p:cNvPr id="7" name="Text 2"/>
          <p:cNvSpPr/>
          <p:nvPr/>
        </p:nvSpPr>
        <p:spPr>
          <a:xfrm>
            <a:off x="832104" y="3648456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4928616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Automated Testing</a:t>
            </a:r>
            <a:endParaRPr lang="en-US" sz="6410" dirty="0"/>
          </a:p>
        </p:txBody>
      </p:sp>
      <p:sp>
        <p:nvSpPr>
          <p:cNvPr id="9" name="Text 4"/>
          <p:cNvSpPr/>
          <p:nvPr/>
        </p:nvSpPr>
        <p:spPr>
          <a:xfrm>
            <a:off x="832104" y="1170432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08</a:t>
            </a:r>
            <a:endParaRPr lang="en-US" sz="13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042"/>
            <a:ext cx="14630400" cy="822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1773936"/>
            <a:ext cx="3218688" cy="9509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773936"/>
            <a:ext cx="3218688" cy="95097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1773936"/>
            <a:ext cx="3218688" cy="95097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608" y="1773936"/>
            <a:ext cx="3218688" cy="95097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32104" y="75895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Automated Testing</a:t>
            </a:r>
            <a:endParaRPr lang="en-US" sz="4640" dirty="0"/>
          </a:p>
        </p:txBody>
      </p:sp>
      <p:sp>
        <p:nvSpPr>
          <p:cNvPr id="9" name="Text 1"/>
          <p:cNvSpPr/>
          <p:nvPr/>
        </p:nvSpPr>
        <p:spPr>
          <a:xfrm>
            <a:off x="2368296" y="20299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0" name="Text 2"/>
          <p:cNvSpPr/>
          <p:nvPr/>
        </p:nvSpPr>
        <p:spPr>
          <a:xfrm>
            <a:off x="7571232" y="3072384"/>
            <a:ext cx="2743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CI Pipeline Configuration</a:t>
            </a:r>
            <a:endParaRPr lang="en-US" sz="2320" dirty="0"/>
          </a:p>
        </p:txBody>
      </p:sp>
      <p:sp>
        <p:nvSpPr>
          <p:cNvPr id="11" name="Text 3"/>
          <p:cNvSpPr/>
          <p:nvPr/>
        </p:nvSpPr>
        <p:spPr>
          <a:xfrm>
            <a:off x="4325112" y="3072384"/>
            <a:ext cx="2743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User Interaction Simulation</a:t>
            </a:r>
            <a:endParaRPr lang="en-US" sz="2320" dirty="0"/>
          </a:p>
        </p:txBody>
      </p:sp>
      <p:sp>
        <p:nvSpPr>
          <p:cNvPr id="12" name="Text 4"/>
          <p:cNvSpPr/>
          <p:nvPr/>
        </p:nvSpPr>
        <p:spPr>
          <a:xfrm>
            <a:off x="1078992" y="3584448"/>
            <a:ext cx="2743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 addition to unit tests, we also incorporated Cypress for end-to-end automated testing.</a:t>
            </a:r>
            <a:endParaRPr lang="en-US" sz="1850" dirty="0"/>
          </a:p>
        </p:txBody>
      </p:sp>
      <p:sp>
        <p:nvSpPr>
          <p:cNvPr id="13" name="Text 5"/>
          <p:cNvSpPr/>
          <p:nvPr/>
        </p:nvSpPr>
        <p:spPr>
          <a:xfrm>
            <a:off x="8860536" y="20299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4" name="Text 6"/>
          <p:cNvSpPr/>
          <p:nvPr/>
        </p:nvSpPr>
        <p:spPr>
          <a:xfrm>
            <a:off x="10817352" y="3950208"/>
            <a:ext cx="274320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This automation ensured that no broken UI or logic was ever merged into the main branch.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5614416" y="20299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6" name="Text 8"/>
          <p:cNvSpPr/>
          <p:nvPr/>
        </p:nvSpPr>
        <p:spPr>
          <a:xfrm>
            <a:off x="7571232" y="3950208"/>
            <a:ext cx="27432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We also configured GitHub Actions to run both Jest and Cypress tests on push and pull requests, creating a robust CI pipeline.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4325112" y="3950208"/>
            <a:ext cx="274320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These tests simulate real user interactions—such as searching for a movie, navigating between pages, or switching themes—to ensure UI integrity and functional reliability.</a:t>
            </a:r>
            <a:endParaRPr lang="en-US" sz="1850" dirty="0"/>
          </a:p>
        </p:txBody>
      </p:sp>
      <p:sp>
        <p:nvSpPr>
          <p:cNvPr id="18" name="Text 10"/>
          <p:cNvSpPr/>
          <p:nvPr/>
        </p:nvSpPr>
        <p:spPr>
          <a:xfrm>
            <a:off x="1078992" y="3072384"/>
            <a:ext cx="274320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Automated Testing</a:t>
            </a:r>
            <a:endParaRPr lang="en-US" sz="2320" dirty="0"/>
          </a:p>
        </p:txBody>
      </p:sp>
      <p:sp>
        <p:nvSpPr>
          <p:cNvPr id="19" name="Text 11"/>
          <p:cNvSpPr/>
          <p:nvPr/>
        </p:nvSpPr>
        <p:spPr>
          <a:xfrm>
            <a:off x="12106656" y="202996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  <p:sp>
        <p:nvSpPr>
          <p:cNvPr id="20" name="Text 12"/>
          <p:cNvSpPr/>
          <p:nvPr/>
        </p:nvSpPr>
        <p:spPr>
          <a:xfrm>
            <a:off x="10817352" y="3072384"/>
            <a:ext cx="2743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UI Integrity Assurance</a:t>
            </a:r>
            <a:endParaRPr lang="en-US" sz="23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20840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658368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09</a:t>
            </a:r>
            <a:endParaRPr lang="en-US" sz="13930" dirty="0"/>
          </a:p>
        </p:txBody>
      </p:sp>
      <p:sp>
        <p:nvSpPr>
          <p:cNvPr id="6" name="Text 1"/>
          <p:cNvSpPr/>
          <p:nvPr/>
        </p:nvSpPr>
        <p:spPr>
          <a:xfrm>
            <a:off x="832104" y="377647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4416552"/>
            <a:ext cx="129844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Exception Handling Concepts Applied</a:t>
            </a:r>
            <a:endParaRPr lang="en-US" sz="6410" dirty="0"/>
          </a:p>
        </p:txBody>
      </p:sp>
      <p:sp>
        <p:nvSpPr>
          <p:cNvPr id="8" name="Text 3"/>
          <p:cNvSpPr/>
          <p:nvPr/>
        </p:nvSpPr>
        <p:spPr>
          <a:xfrm>
            <a:off x="832104" y="3136392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701344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2633472"/>
            <a:ext cx="124815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Proper exception handling was a critical part of the refactored application.</a:t>
            </a:r>
            <a:endParaRPr lang="en-US" sz="1850" dirty="0"/>
          </a:p>
        </p:txBody>
      </p:sp>
      <p:sp>
        <p:nvSpPr>
          <p:cNvPr id="5" name="Text 1"/>
          <p:cNvSpPr/>
          <p:nvPr/>
        </p:nvSpPr>
        <p:spPr>
          <a:xfrm>
            <a:off x="1078992" y="3282696"/>
            <a:ext cx="12481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 calls for movie data were wrapped in try…catch blocks, and failed responses triggered user-friendly error messages via MUI Snackbar components.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078992" y="4297680"/>
            <a:ext cx="12481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We also created an Error Boundary in React to catch and gracefully handle unexpected runtime errors at the component level, thus preventing the entire app from crashing.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078992" y="5321808"/>
            <a:ext cx="124815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Route mismatches are caught and directed to a custom page.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078992" y="5961888"/>
            <a:ext cx="124815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These practices ensure high application resilience.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32104" y="1499616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Exception Handling Concepts Applied</a:t>
            </a:r>
            <a:endParaRPr lang="en-US" sz="46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208776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170432"/>
            <a:ext cx="12984480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410"/>
              </a:lnSpc>
              <a:buNone/>
            </a:pPr>
            <a:r>
              <a:rPr lang="en-US" sz="1393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10</a:t>
            </a:r>
            <a:endParaRPr lang="en-US" sz="13930" dirty="0"/>
          </a:p>
        </p:txBody>
      </p:sp>
      <p:sp>
        <p:nvSpPr>
          <p:cNvPr id="6" name="Text 1"/>
          <p:cNvSpPr/>
          <p:nvPr/>
        </p:nvSpPr>
        <p:spPr>
          <a:xfrm>
            <a:off x="832104" y="4928616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8010"/>
              </a:lnSpc>
              <a:buNone/>
            </a:pPr>
            <a:r>
              <a:rPr lang="en-US" sz="641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Peer Reviews and Inspections</a:t>
            </a:r>
            <a:endParaRPr lang="en-US" sz="6410" dirty="0"/>
          </a:p>
        </p:txBody>
      </p:sp>
      <p:sp>
        <p:nvSpPr>
          <p:cNvPr id="7" name="Text 2"/>
          <p:cNvSpPr/>
          <p:nvPr/>
        </p:nvSpPr>
        <p:spPr>
          <a:xfrm>
            <a:off x="832104" y="3648456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6510528"/>
            <a:ext cx="129844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48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480" dirty="0"/>
          </a:p>
        </p:txBody>
      </p:sp>
      <p:sp>
        <p:nvSpPr>
          <p:cNvPr id="9" name="Text 4"/>
          <p:cNvSpPr/>
          <p:nvPr/>
        </p:nvSpPr>
        <p:spPr>
          <a:xfrm>
            <a:off x="832104" y="4288536"/>
            <a:ext cx="12984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7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1673352"/>
            <a:ext cx="2569464" cy="9509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1673352"/>
            <a:ext cx="2569464" cy="9509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673352"/>
            <a:ext cx="2569464" cy="95097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1673352"/>
            <a:ext cx="2569464" cy="95097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1673352"/>
            <a:ext cx="2569464" cy="95097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426696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320" dirty="0"/>
          </a:p>
        </p:txBody>
      </p:sp>
      <p:sp>
        <p:nvSpPr>
          <p:cNvPr id="9" name="Text 1"/>
          <p:cNvSpPr/>
          <p:nvPr/>
        </p:nvSpPr>
        <p:spPr>
          <a:xfrm>
            <a:off x="1078992" y="3849624"/>
            <a:ext cx="21031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Our development process incorporated systematic peer reviews for all features.</a:t>
            </a:r>
            <a:endParaRPr lang="en-US" sz="1850" dirty="0"/>
          </a:p>
        </p:txBody>
      </p:sp>
      <p:sp>
        <p:nvSpPr>
          <p:cNvPr id="10" name="Text 2"/>
          <p:cNvSpPr/>
          <p:nvPr/>
        </p:nvSpPr>
        <p:spPr>
          <a:xfrm>
            <a:off x="1078992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Development Process</a:t>
            </a:r>
            <a:endParaRPr lang="en-US" sz="2320" dirty="0"/>
          </a:p>
        </p:txBody>
      </p:sp>
      <p:sp>
        <p:nvSpPr>
          <p:cNvPr id="11" name="Text 3"/>
          <p:cNvSpPr/>
          <p:nvPr/>
        </p:nvSpPr>
        <p:spPr>
          <a:xfrm>
            <a:off x="11466576" y="3849624"/>
            <a:ext cx="210312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This helped identify areas for improvement and improved collective ownership of the codebase.</a:t>
            </a:r>
            <a:endParaRPr lang="en-US" sz="1850" dirty="0"/>
          </a:p>
        </p:txBody>
      </p:sp>
      <p:sp>
        <p:nvSpPr>
          <p:cNvPr id="12" name="Text 4"/>
          <p:cNvSpPr/>
          <p:nvPr/>
        </p:nvSpPr>
        <p:spPr>
          <a:xfrm>
            <a:off x="6272784" y="3849624"/>
            <a:ext cx="210312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Code was inspected for clarity, performance, consistency with the component architecture, and alignment with MUI design principles.</a:t>
            </a:r>
            <a:endParaRPr lang="en-US" sz="1850" dirty="0"/>
          </a:p>
        </p:txBody>
      </p:sp>
      <p:sp>
        <p:nvSpPr>
          <p:cNvPr id="13" name="Text 5"/>
          <p:cNvSpPr/>
          <p:nvPr/>
        </p:nvSpPr>
        <p:spPr>
          <a:xfrm>
            <a:off x="8869680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Code Walkthroughs</a:t>
            </a:r>
            <a:endParaRPr lang="en-US" sz="2320" dirty="0"/>
          </a:p>
        </p:txBody>
      </p:sp>
      <p:sp>
        <p:nvSpPr>
          <p:cNvPr id="14" name="Text 6"/>
          <p:cNvSpPr/>
          <p:nvPr/>
        </p:nvSpPr>
        <p:spPr>
          <a:xfrm>
            <a:off x="3675888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Merging Process</a:t>
            </a:r>
            <a:endParaRPr lang="en-US" sz="2320" dirty="0"/>
          </a:p>
        </p:txBody>
      </p:sp>
      <p:sp>
        <p:nvSpPr>
          <p:cNvPr id="15" name="Text 7"/>
          <p:cNvSpPr/>
          <p:nvPr/>
        </p:nvSpPr>
        <p:spPr>
          <a:xfrm>
            <a:off x="6272784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Code Inspection</a:t>
            </a:r>
            <a:endParaRPr lang="en-US" sz="2320" dirty="0"/>
          </a:p>
        </p:txBody>
      </p:sp>
      <p:sp>
        <p:nvSpPr>
          <p:cNvPr id="16" name="Text 8"/>
          <p:cNvSpPr/>
          <p:nvPr/>
        </p:nvSpPr>
        <p:spPr>
          <a:xfrm>
            <a:off x="8869680" y="3849624"/>
            <a:ext cx="210312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We also held code walkthroughs at the end of each sprint where one member demonstrated new features to the rest of the team.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4645152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8" name="Text 10"/>
          <p:cNvSpPr/>
          <p:nvPr/>
        </p:nvSpPr>
        <p:spPr>
          <a:xfrm>
            <a:off x="7232904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9" name="Text 11"/>
          <p:cNvSpPr/>
          <p:nvPr/>
        </p:nvSpPr>
        <p:spPr>
          <a:xfrm>
            <a:off x="9829800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320" dirty="0"/>
          </a:p>
        </p:txBody>
      </p:sp>
      <p:sp>
        <p:nvSpPr>
          <p:cNvPr id="20" name="Text 12"/>
          <p:cNvSpPr/>
          <p:nvPr/>
        </p:nvSpPr>
        <p:spPr>
          <a:xfrm>
            <a:off x="11466576" y="2971800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dirty="0">
                <a:solidFill>
                  <a:srgbClr val="031A3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Improvement Identification</a:t>
            </a:r>
            <a:endParaRPr lang="en-US" sz="2320" dirty="0"/>
          </a:p>
        </p:txBody>
      </p:sp>
      <p:sp>
        <p:nvSpPr>
          <p:cNvPr id="21" name="Text 13"/>
          <p:cNvSpPr/>
          <p:nvPr/>
        </p:nvSpPr>
        <p:spPr>
          <a:xfrm>
            <a:off x="2048256" y="192938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262626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22" name="Text 14"/>
          <p:cNvSpPr/>
          <p:nvPr/>
        </p:nvSpPr>
        <p:spPr>
          <a:xfrm>
            <a:off x="832104" y="64922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044F9B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Peer Reviews and Inspections</a:t>
            </a:r>
            <a:endParaRPr lang="en-US" sz="4640" dirty="0"/>
          </a:p>
        </p:txBody>
      </p:sp>
      <p:sp>
        <p:nvSpPr>
          <p:cNvPr id="23" name="Text 15"/>
          <p:cNvSpPr/>
          <p:nvPr/>
        </p:nvSpPr>
        <p:spPr>
          <a:xfrm>
            <a:off x="3675888" y="3849624"/>
            <a:ext cx="210312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1850" dirty="0">
                <a:solidFill>
                  <a:srgbClr val="031A3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Every branch merged into the main repository underwent at least one peer review through GitHub Pull Requests.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1382</Words>
  <Application>Microsoft Office PowerPoint</Application>
  <PresentationFormat>Custom</PresentationFormat>
  <Paragraphs>189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思源黑体-思源黑体-Medium</vt:lpstr>
      <vt:lpstr>思源黑体-思源黑体-SemiBold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ALINA FAISAL</cp:lastModifiedBy>
  <cp:revision>5</cp:revision>
  <dcterms:created xsi:type="dcterms:W3CDTF">2025-06-19T10:48:18Z</dcterms:created>
  <dcterms:modified xsi:type="dcterms:W3CDTF">2025-06-19T12:26:23Z</dcterms:modified>
</cp:coreProperties>
</file>